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2673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080F"/>
          </a:solidFill>
          <a:ln w="12700">
            <a:solidFill>
              <a:srgbClr val="0608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</a:rPr>
              <a:t>HOW PROMPT PARSING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04 /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04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" y="7863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idea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6656" y="10241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 fields: idea name, description, target market, budget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02336" y="1133856"/>
            <a:ext cx="18288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435608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435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" y="14173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enrichment (Serper API)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" y="16550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 queries: competitors · market size · industry news → top snippets injected into prompt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2336" y="1764792"/>
            <a:ext cx="18288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066544"/>
            <a:ext cx="310896" cy="3108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" y="204825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Multi-AI prompt routing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" y="2286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Each analysis module routed to the best AI provider (see table →)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2336" y="2395728"/>
            <a:ext cx="18288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697480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" y="267919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 parsing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" y="2916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forces valid JSON only — no markdown, no prose. Parsed with JSON.parse() + schema validator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2336" y="3026664"/>
            <a:ext cx="18288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3328416"/>
            <a:ext cx="310896" cy="3108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328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" y="33101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normalization + verdict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" y="353226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avg: Market(25%) + Competition(20%) + Monetization(20%) + Risk(15%) + Uniqueness(20%)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37744" y="4009644"/>
            <a:ext cx="2804160" cy="1234440"/>
          </a:xfrm>
          <a:prstGeom prst="rect">
            <a:avLst/>
          </a:prstGeom>
          <a:solidFill>
            <a:srgbClr val="0A1020"/>
          </a:solidFill>
          <a:ln w="889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237744" y="4992624"/>
            <a:ext cx="2804160" cy="201168"/>
          </a:xfrm>
          <a:prstGeom prst="rect">
            <a:avLst/>
          </a:prstGeom>
          <a:solidFill>
            <a:srgbClr val="0D1B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5021580"/>
            <a:ext cx="271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47472" y="3986784"/>
            <a:ext cx="2694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startup validation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expert. Respond in valid JSON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— no markdown, no prose.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Return: { validation_score,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score_breakdown, swot,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competitors, risks,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verdict: "go|pivot|no-go" }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3169920" y="3749040"/>
            <a:ext cx="2804160" cy="1234440"/>
          </a:xfrm>
          <a:prstGeom prst="rect">
            <a:avLst/>
          </a:prstGeom>
          <a:solidFill>
            <a:srgbClr val="0A1020"/>
          </a:solidFill>
          <a:ln w="8890">
            <a:solidFill>
              <a:srgbClr val="1E4A2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69920" y="3749040"/>
            <a:ext cx="2804160" cy="201168"/>
          </a:xfrm>
          <a:prstGeom prst="rect">
            <a:avLst/>
          </a:prstGeom>
          <a:solidFill>
            <a:srgbClr val="0D2218"/>
          </a:solidFill>
          <a:ln w="6350">
            <a:solidFill>
              <a:srgbClr val="1E4A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61360" y="3758184"/>
            <a:ext cx="2694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PROMPT (dynamic)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61360" y="3986784"/>
            <a:ext cx="2676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IDEA: ${ideaName}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DESC: ${ideaDescription}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MARKET: ${targetMarket}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DATA: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Competitors: ${results[0]}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News: ${newsSnippets}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Trend: ${trendData}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6083808" y="3749040"/>
            <a:ext cx="2804160" cy="1234440"/>
          </a:xfrm>
          <a:prstGeom prst="rect">
            <a:avLst/>
          </a:prstGeom>
          <a:solidFill>
            <a:srgbClr val="0A1020"/>
          </a:solidFill>
          <a:ln w="8890">
            <a:solidFill>
              <a:srgbClr val="3B25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83808" y="3749040"/>
            <a:ext cx="2804160" cy="201168"/>
          </a:xfrm>
          <a:prstGeom prst="rect">
            <a:avLst/>
          </a:prstGeom>
          <a:solidFill>
            <a:srgbClr val="1A1000"/>
          </a:solidFill>
          <a:ln w="6350">
            <a:solidFill>
              <a:srgbClr val="3B25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5248" y="3758184"/>
            <a:ext cx="2694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SEARCH (Serper)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75248" y="3986784"/>
            <a:ext cx="2676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Q1: "${ideaName} competitors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2024"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Q2: "${industry} market size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2024"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Q3: "${ideaName} startup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funding"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top 5 snippets injected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4297680" y="7498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 ROUTING TABLE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297680" y="9692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→ best-fit provider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97680" y="1005840"/>
            <a:ext cx="1737360" cy="283098"/>
          </a:xfrm>
          <a:prstGeom prst="rect">
            <a:avLst/>
          </a:prstGeom>
          <a:solidFill>
            <a:srgbClr val="0D1B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1005840"/>
            <a:ext cx="1828800" cy="283098"/>
          </a:xfrm>
          <a:prstGeom prst="rect">
            <a:avLst/>
          </a:prstGeom>
          <a:solidFill>
            <a:srgbClr val="0D1B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63840" y="1005840"/>
            <a:ext cx="960120" cy="283098"/>
          </a:xfrm>
          <a:prstGeom prst="rect">
            <a:avLst/>
          </a:prstGeom>
          <a:solidFill>
            <a:srgbClr val="0D1B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0" y="1005840"/>
            <a:ext cx="1645920" cy="283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Module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26480" y="1005840"/>
            <a:ext cx="1737360" cy="283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918704" y="1005840"/>
            <a:ext cx="905256" cy="283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297680" y="1288938"/>
            <a:ext cx="1737360" cy="356616"/>
          </a:xfrm>
          <a:prstGeom prst="rect">
            <a:avLst/>
          </a:prstGeom>
          <a:solidFill>
            <a:srgbClr val="0A1628"/>
          </a:solidFill>
          <a:ln w="5080">
            <a:solidFill>
              <a:srgbClr val="1E2A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35040" y="1288938"/>
            <a:ext cx="1828800" cy="356616"/>
          </a:xfrm>
          <a:prstGeom prst="rect">
            <a:avLst/>
          </a:prstGeom>
          <a:solidFill>
            <a:srgbClr val="0A1628"/>
          </a:solidFill>
          <a:ln w="5080">
            <a:solidFill>
              <a:srgbClr val="1E2A4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63840" y="1288938"/>
            <a:ext cx="960120" cy="356616"/>
          </a:xfrm>
          <a:prstGeom prst="rect">
            <a:avLst/>
          </a:prstGeom>
          <a:solidFill>
            <a:srgbClr val="0A1628"/>
          </a:solidFill>
          <a:ln w="5080">
            <a:solidFill>
              <a:srgbClr val="1E2A4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97680" y="1288938"/>
            <a:ext cx="45720" cy="3566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0" y="1307226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718304" y="132551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Analysis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26480" y="1380378"/>
            <a:ext cx="1234440" cy="137160"/>
          </a:xfrm>
          <a:prstGeom prst="rect">
            <a:avLst/>
          </a:prstGeom>
          <a:solidFill>
            <a:srgbClr val="10B981">
              <a:alpha val="18000"/>
            </a:srgbClr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26480" y="1380378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918704" y="1325514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297680" y="1682130"/>
            <a:ext cx="1737360" cy="356616"/>
          </a:xfrm>
          <a:prstGeom prst="rect">
            <a:avLst/>
          </a:prstGeom>
          <a:solidFill>
            <a:srgbClr val="0D1B40"/>
          </a:solidFill>
          <a:ln w="5080">
            <a:solidFill>
              <a:srgbClr val="1E2A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35040" y="1682130"/>
            <a:ext cx="1828800" cy="356616"/>
          </a:xfrm>
          <a:prstGeom prst="rect">
            <a:avLst/>
          </a:prstGeom>
          <a:solidFill>
            <a:srgbClr val="0D1B40"/>
          </a:solidFill>
          <a:ln w="5080">
            <a:solidFill>
              <a:srgbClr val="1E2A4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863840" y="1682130"/>
            <a:ext cx="960120" cy="356616"/>
          </a:xfrm>
          <a:prstGeom prst="rect">
            <a:avLst/>
          </a:prstGeom>
          <a:solidFill>
            <a:srgbClr val="0D1B40"/>
          </a:solidFill>
          <a:ln w="5080">
            <a:solidFill>
              <a:srgbClr val="1E2A4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97680" y="1682130"/>
            <a:ext cx="45720" cy="3566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0" y="170041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4718304" y="171870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Validation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126480" y="1773570"/>
            <a:ext cx="1234440" cy="137160"/>
          </a:xfrm>
          <a:prstGeom prst="rect">
            <a:avLst/>
          </a:prstGeom>
          <a:solidFill>
            <a:srgbClr val="3B82F6">
              <a:alpha val="18000"/>
            </a:srgbClr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26480" y="177357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918704" y="1718706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Command-R+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297680" y="2075322"/>
            <a:ext cx="1737360" cy="356616"/>
          </a:xfrm>
          <a:prstGeom prst="rect">
            <a:avLst/>
          </a:prstGeom>
          <a:solidFill>
            <a:srgbClr val="0A1628"/>
          </a:solidFill>
          <a:ln w="5080">
            <a:solidFill>
              <a:srgbClr val="1E2A4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035040" y="2075322"/>
            <a:ext cx="1828800" cy="356616"/>
          </a:xfrm>
          <a:prstGeom prst="rect">
            <a:avLst/>
          </a:prstGeom>
          <a:solidFill>
            <a:srgbClr val="0A1628"/>
          </a:solidFill>
          <a:ln w="5080">
            <a:solidFill>
              <a:srgbClr val="1E2A4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863840" y="2075322"/>
            <a:ext cx="960120" cy="356616"/>
          </a:xfrm>
          <a:prstGeom prst="rect">
            <a:avLst/>
          </a:prstGeom>
          <a:solidFill>
            <a:srgbClr val="0A1628"/>
          </a:solidFill>
          <a:ln w="5080">
            <a:solidFill>
              <a:srgbClr val="1E2A4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97680" y="2075322"/>
            <a:ext cx="45720" cy="3566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89120" y="209361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4718304" y="211189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126480" y="2166762"/>
            <a:ext cx="1234440" cy="137160"/>
          </a:xfrm>
          <a:prstGeom prst="rect">
            <a:avLst/>
          </a:prstGeom>
          <a:solidFill>
            <a:srgbClr val="F59E0B">
              <a:alpha val="18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26480" y="2166762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918704" y="2111898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 Pro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297680" y="2468514"/>
            <a:ext cx="1737360" cy="356616"/>
          </a:xfrm>
          <a:prstGeom prst="rect">
            <a:avLst/>
          </a:prstGeom>
          <a:solidFill>
            <a:srgbClr val="0D1B40"/>
          </a:solidFill>
          <a:ln w="5080">
            <a:solidFill>
              <a:srgbClr val="1E2A4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35040" y="2468514"/>
            <a:ext cx="1828800" cy="356616"/>
          </a:xfrm>
          <a:prstGeom prst="rect">
            <a:avLst/>
          </a:prstGeom>
          <a:solidFill>
            <a:srgbClr val="0D1B40"/>
          </a:solidFill>
          <a:ln w="5080">
            <a:solidFill>
              <a:srgbClr val="1E2A4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863840" y="2468514"/>
            <a:ext cx="960120" cy="356616"/>
          </a:xfrm>
          <a:prstGeom prst="rect">
            <a:avLst/>
          </a:prstGeom>
          <a:solidFill>
            <a:srgbClr val="0D1B40"/>
          </a:solidFill>
          <a:ln w="5080">
            <a:solidFill>
              <a:srgbClr val="1E2A4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297680" y="2468514"/>
            <a:ext cx="45720" cy="3566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89120" y="248680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4718304" y="250509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126480" y="2559954"/>
            <a:ext cx="1234440" cy="137160"/>
          </a:xfrm>
          <a:prstGeom prst="rect">
            <a:avLst/>
          </a:prstGeom>
          <a:solidFill>
            <a:srgbClr val="10B981">
              <a:alpha val="18000"/>
            </a:srgbClr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26480" y="2559954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7918704" y="2505090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297680" y="2861706"/>
            <a:ext cx="1737360" cy="356616"/>
          </a:xfrm>
          <a:prstGeom prst="rect">
            <a:avLst/>
          </a:prstGeom>
          <a:solidFill>
            <a:srgbClr val="0A1628"/>
          </a:solidFill>
          <a:ln w="5080">
            <a:solidFill>
              <a:srgbClr val="1E2A4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35040" y="2861706"/>
            <a:ext cx="1828800" cy="356616"/>
          </a:xfrm>
          <a:prstGeom prst="rect">
            <a:avLst/>
          </a:prstGeom>
          <a:solidFill>
            <a:srgbClr val="0A1628"/>
          </a:solidFill>
          <a:ln w="5080">
            <a:solidFill>
              <a:srgbClr val="1E2A4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863840" y="2861706"/>
            <a:ext cx="960120" cy="356616"/>
          </a:xfrm>
          <a:prstGeom prst="rect">
            <a:avLst/>
          </a:prstGeom>
          <a:solidFill>
            <a:srgbClr val="0A1628"/>
          </a:solidFill>
          <a:ln w="5080">
            <a:solidFill>
              <a:srgbClr val="1E2A4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297680" y="2861706"/>
            <a:ext cx="45720" cy="3566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89120" y="2879994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90" name="Text 88"/>
          <p:cNvSpPr/>
          <p:nvPr/>
        </p:nvSpPr>
        <p:spPr>
          <a:xfrm>
            <a:off x="4718304" y="289828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Detection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6126480" y="2953146"/>
            <a:ext cx="1234440" cy="137160"/>
          </a:xfrm>
          <a:prstGeom prst="rect">
            <a:avLst/>
          </a:prstGeom>
          <a:solidFill>
            <a:srgbClr val="8B5CF6">
              <a:alpha val="18000"/>
            </a:srgbClr>
          </a:solidFill>
          <a:ln w="7620">
            <a:solidFill>
              <a:srgbClr val="8B5CF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126480" y="295314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7918704" y="2898282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Mixtral-8x7B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297680" y="3254898"/>
            <a:ext cx="1737360" cy="356616"/>
          </a:xfrm>
          <a:prstGeom prst="rect">
            <a:avLst/>
          </a:prstGeom>
          <a:solidFill>
            <a:srgbClr val="0D1B40"/>
          </a:solidFill>
          <a:ln w="5080">
            <a:solidFill>
              <a:srgbClr val="1E2A4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035040" y="3254898"/>
            <a:ext cx="1828800" cy="356616"/>
          </a:xfrm>
          <a:prstGeom prst="rect">
            <a:avLst/>
          </a:prstGeom>
          <a:solidFill>
            <a:srgbClr val="0D1B40"/>
          </a:solidFill>
          <a:ln w="5080">
            <a:solidFill>
              <a:srgbClr val="1E2A4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863840" y="3254898"/>
            <a:ext cx="960120" cy="356616"/>
          </a:xfrm>
          <a:prstGeom prst="rect">
            <a:avLst/>
          </a:prstGeom>
          <a:solidFill>
            <a:srgbClr val="0D1B40"/>
          </a:solidFill>
          <a:ln w="5080">
            <a:solidFill>
              <a:srgbClr val="1E2A4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297680" y="3254898"/>
            <a:ext cx="45720" cy="3566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389120" y="3273186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🧩</a:t>
            </a:r>
            <a:endParaRPr lang="en-US" sz="1400" dirty="0"/>
          </a:p>
        </p:txBody>
      </p:sp>
      <p:sp>
        <p:nvSpPr>
          <p:cNvPr id="99" name="Text 97"/>
          <p:cNvSpPr/>
          <p:nvPr/>
        </p:nvSpPr>
        <p:spPr>
          <a:xfrm>
            <a:off x="4718304" y="329147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6126480" y="3346338"/>
            <a:ext cx="1234440" cy="137160"/>
          </a:xfrm>
          <a:prstGeom prst="rect">
            <a:avLst/>
          </a:prstGeom>
          <a:solidFill>
            <a:srgbClr val="10B981">
              <a:alpha val="18000"/>
            </a:srgbClr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126480" y="3346338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7918704" y="3291474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4251960" y="4892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Serper.dev handles live web search enrichment before all AI calls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312</Words>
  <Application>Microsoft Office PowerPoint</Application>
  <PresentationFormat>On-screen Show (16:9)</PresentationFormat>
  <Paragraphs>72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Abhishek Kumar</cp:lastModifiedBy>
  <cp:revision>3</cp:revision>
  <dcterms:created xsi:type="dcterms:W3CDTF">2026-03-28T05:55:38Z</dcterms:created>
  <dcterms:modified xsi:type="dcterms:W3CDTF">2026-03-28T06:07:41Z</dcterms:modified>
</cp:coreProperties>
</file>